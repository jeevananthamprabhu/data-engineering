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65" r:id="rId2"/>
    <p:sldId id="310" r:id="rId3"/>
    <p:sldId id="320" r:id="rId4"/>
    <p:sldId id="321" r:id="rId5"/>
    <p:sldId id="322" r:id="rId6"/>
    <p:sldId id="323" r:id="rId7"/>
    <p:sldId id="324" r:id="rId8"/>
    <p:sldId id="326" r:id="rId9"/>
    <p:sldId id="327" r:id="rId10"/>
    <p:sldId id="328" r:id="rId11"/>
  </p:sldIdLst>
  <p:sldSz cx="12188825" cy="6858000"/>
  <p:notesSz cx="6858000" cy="9144000"/>
  <p:custDataLst>
    <p:tags r:id="rId1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29" autoAdjust="0"/>
  </p:normalViewPr>
  <p:slideViewPr>
    <p:cSldViewPr showGuides="1">
      <p:cViewPr>
        <p:scale>
          <a:sx n="75" d="100"/>
          <a:sy n="75" d="100"/>
        </p:scale>
        <p:origin x="324" y="-268"/>
      </p:cViewPr>
      <p:guideLst>
        <p:guide pos="3839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1986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A535270-BB2A-40E6-BEDD-236AB32B1AA0}" type="doc">
      <dgm:prSet loTypeId="urn:microsoft.com/office/officeart/2005/8/layout/process1" loCatId="process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9CD1D659-3E14-4874-840C-F06308B2FF9D}">
      <dgm:prSet phldrT="[Text]" phldr="0"/>
      <dgm:spPr/>
      <dgm:t>
        <a:bodyPr/>
        <a:lstStyle/>
        <a:p>
          <a:r>
            <a:rPr lang="en-IN" dirty="0"/>
            <a:t>Data Source</a:t>
          </a:r>
        </a:p>
      </dgm:t>
    </dgm:pt>
    <dgm:pt modelId="{20A2E1F9-7AC6-4891-BBCD-3E2F5699F035}" type="parTrans" cxnId="{58DED32B-2C73-4AD1-8A05-321C393097F5}">
      <dgm:prSet/>
      <dgm:spPr/>
      <dgm:t>
        <a:bodyPr/>
        <a:lstStyle/>
        <a:p>
          <a:endParaRPr lang="en-IN"/>
        </a:p>
      </dgm:t>
    </dgm:pt>
    <dgm:pt modelId="{831D83A3-2DA3-4A53-B6BD-207BAB09320F}" type="sibTrans" cxnId="{58DED32B-2C73-4AD1-8A05-321C393097F5}">
      <dgm:prSet/>
      <dgm:spPr/>
      <dgm:t>
        <a:bodyPr/>
        <a:lstStyle/>
        <a:p>
          <a:endParaRPr lang="en-IN"/>
        </a:p>
      </dgm:t>
    </dgm:pt>
    <dgm:pt modelId="{BD62B9F9-3714-4216-A5BE-1CD8844E1691}">
      <dgm:prSet phldrT="[Text]" phldr="0"/>
      <dgm:spPr/>
      <dgm:t>
        <a:bodyPr/>
        <a:lstStyle/>
        <a:p>
          <a:r>
            <a:rPr lang="en-IN" dirty="0"/>
            <a:t>Azure Data Factory</a:t>
          </a:r>
        </a:p>
      </dgm:t>
    </dgm:pt>
    <dgm:pt modelId="{8433CF88-31E6-48C0-93C0-04157746260D}" type="parTrans" cxnId="{F3A18442-4457-4776-8579-6751D41BE393}">
      <dgm:prSet/>
      <dgm:spPr/>
      <dgm:t>
        <a:bodyPr/>
        <a:lstStyle/>
        <a:p>
          <a:endParaRPr lang="en-IN"/>
        </a:p>
      </dgm:t>
    </dgm:pt>
    <dgm:pt modelId="{9770090E-AD32-4563-9BA2-A6843EC74D40}" type="sibTrans" cxnId="{F3A18442-4457-4776-8579-6751D41BE393}">
      <dgm:prSet/>
      <dgm:spPr/>
      <dgm:t>
        <a:bodyPr/>
        <a:lstStyle/>
        <a:p>
          <a:endParaRPr lang="en-IN"/>
        </a:p>
      </dgm:t>
    </dgm:pt>
    <dgm:pt modelId="{7D42A72F-D907-4189-B35E-DF73C2FA63CD}">
      <dgm:prSet phldrT="[Text]" phldr="0"/>
      <dgm:spPr/>
      <dgm:t>
        <a:bodyPr/>
        <a:lstStyle/>
        <a:p>
          <a:r>
            <a:rPr lang="en-IN" dirty="0"/>
            <a:t>Cosmos DB</a:t>
          </a:r>
        </a:p>
      </dgm:t>
    </dgm:pt>
    <dgm:pt modelId="{264CDDD2-BBA4-4E5E-924D-38EBB9457124}" type="parTrans" cxnId="{E4D15EBC-3960-46EC-B609-6CE283B5EE9B}">
      <dgm:prSet/>
      <dgm:spPr/>
      <dgm:t>
        <a:bodyPr/>
        <a:lstStyle/>
        <a:p>
          <a:endParaRPr lang="en-IN"/>
        </a:p>
      </dgm:t>
    </dgm:pt>
    <dgm:pt modelId="{F42055FB-FDB4-461B-9097-8825FCB0FAA8}" type="sibTrans" cxnId="{E4D15EBC-3960-46EC-B609-6CE283B5EE9B}">
      <dgm:prSet/>
      <dgm:spPr/>
      <dgm:t>
        <a:bodyPr/>
        <a:lstStyle/>
        <a:p>
          <a:endParaRPr lang="en-IN"/>
        </a:p>
      </dgm:t>
    </dgm:pt>
    <dgm:pt modelId="{8CF8BECA-6E0F-463B-B4BD-7137EA5F64A4}">
      <dgm:prSet/>
      <dgm:spPr/>
      <dgm:t>
        <a:bodyPr/>
        <a:lstStyle/>
        <a:p>
          <a:r>
            <a:rPr lang="en-IN" dirty="0"/>
            <a:t>Databricks</a:t>
          </a:r>
        </a:p>
      </dgm:t>
    </dgm:pt>
    <dgm:pt modelId="{94CCE573-A05C-4D9C-B2DD-65A7DD863C3C}" type="parTrans" cxnId="{95529183-2A41-4157-95BA-7C6641A38668}">
      <dgm:prSet/>
      <dgm:spPr/>
      <dgm:t>
        <a:bodyPr/>
        <a:lstStyle/>
        <a:p>
          <a:endParaRPr lang="en-IN"/>
        </a:p>
      </dgm:t>
    </dgm:pt>
    <dgm:pt modelId="{3519FF0A-61D9-4AB1-9E15-F065ABC5DCE5}" type="sibTrans" cxnId="{95529183-2A41-4157-95BA-7C6641A38668}">
      <dgm:prSet/>
      <dgm:spPr/>
      <dgm:t>
        <a:bodyPr/>
        <a:lstStyle/>
        <a:p>
          <a:endParaRPr lang="en-IN"/>
        </a:p>
      </dgm:t>
    </dgm:pt>
    <dgm:pt modelId="{A0526FBC-872B-4BDB-9A44-7456065B06E8}">
      <dgm:prSet/>
      <dgm:spPr/>
      <dgm:t>
        <a:bodyPr/>
        <a:lstStyle/>
        <a:p>
          <a:r>
            <a:rPr lang="en-IN" dirty="0"/>
            <a:t>SQL DB</a:t>
          </a:r>
        </a:p>
      </dgm:t>
    </dgm:pt>
    <dgm:pt modelId="{C07AB8CB-690E-492F-9827-8F7F0F8B45CB}" type="parTrans" cxnId="{1039DB56-F7C5-477C-8432-85B2096D9580}">
      <dgm:prSet/>
      <dgm:spPr/>
      <dgm:t>
        <a:bodyPr/>
        <a:lstStyle/>
        <a:p>
          <a:endParaRPr lang="en-IN"/>
        </a:p>
      </dgm:t>
    </dgm:pt>
    <dgm:pt modelId="{5F2D159B-5470-4A3C-ABD8-063219CA5C22}" type="sibTrans" cxnId="{1039DB56-F7C5-477C-8432-85B2096D9580}">
      <dgm:prSet/>
      <dgm:spPr/>
      <dgm:t>
        <a:bodyPr/>
        <a:lstStyle/>
        <a:p>
          <a:endParaRPr lang="en-IN"/>
        </a:p>
      </dgm:t>
    </dgm:pt>
    <dgm:pt modelId="{B7CAA1C2-9095-41DD-B9AB-36D94CCFD6B4}" type="pres">
      <dgm:prSet presAssocID="{5A535270-BB2A-40E6-BEDD-236AB32B1AA0}" presName="Name0" presStyleCnt="0">
        <dgm:presLayoutVars>
          <dgm:dir/>
          <dgm:resizeHandles val="exact"/>
        </dgm:presLayoutVars>
      </dgm:prSet>
      <dgm:spPr/>
    </dgm:pt>
    <dgm:pt modelId="{5A50B4B2-0C24-4C87-8D74-BE65CBF88D2F}" type="pres">
      <dgm:prSet presAssocID="{9CD1D659-3E14-4874-840C-F06308B2FF9D}" presName="node" presStyleLbl="node1" presStyleIdx="0" presStyleCnt="5" custLinFactNeighborY="328">
        <dgm:presLayoutVars>
          <dgm:bulletEnabled val="1"/>
        </dgm:presLayoutVars>
      </dgm:prSet>
      <dgm:spPr/>
    </dgm:pt>
    <dgm:pt modelId="{23E5D47C-A8E3-4EA6-836D-FEF056FB7F47}" type="pres">
      <dgm:prSet presAssocID="{831D83A3-2DA3-4A53-B6BD-207BAB09320F}" presName="sibTrans" presStyleLbl="sibTrans2D1" presStyleIdx="0" presStyleCnt="4"/>
      <dgm:spPr/>
    </dgm:pt>
    <dgm:pt modelId="{29CD1D7B-C6BB-44A8-B56A-73DDD7CC9595}" type="pres">
      <dgm:prSet presAssocID="{831D83A3-2DA3-4A53-B6BD-207BAB09320F}" presName="connectorText" presStyleLbl="sibTrans2D1" presStyleIdx="0" presStyleCnt="4"/>
      <dgm:spPr/>
    </dgm:pt>
    <dgm:pt modelId="{1BE3EC0C-4381-4DCF-B70D-02810D9EC3E4}" type="pres">
      <dgm:prSet presAssocID="{BD62B9F9-3714-4216-A5BE-1CD8844E1691}" presName="node" presStyleLbl="node1" presStyleIdx="1" presStyleCnt="5">
        <dgm:presLayoutVars>
          <dgm:bulletEnabled val="1"/>
        </dgm:presLayoutVars>
      </dgm:prSet>
      <dgm:spPr/>
    </dgm:pt>
    <dgm:pt modelId="{E664A587-11F4-403A-B6DE-A28463C530CA}" type="pres">
      <dgm:prSet presAssocID="{9770090E-AD32-4563-9BA2-A6843EC74D40}" presName="sibTrans" presStyleLbl="sibTrans2D1" presStyleIdx="1" presStyleCnt="4"/>
      <dgm:spPr/>
    </dgm:pt>
    <dgm:pt modelId="{C271D136-29DA-42AE-978F-69A80C9D8C0F}" type="pres">
      <dgm:prSet presAssocID="{9770090E-AD32-4563-9BA2-A6843EC74D40}" presName="connectorText" presStyleLbl="sibTrans2D1" presStyleIdx="1" presStyleCnt="4"/>
      <dgm:spPr/>
    </dgm:pt>
    <dgm:pt modelId="{741441E0-F8B3-4F5E-A8C2-B5398ED44113}" type="pres">
      <dgm:prSet presAssocID="{7D42A72F-D907-4189-B35E-DF73C2FA63CD}" presName="node" presStyleLbl="node1" presStyleIdx="2" presStyleCnt="5">
        <dgm:presLayoutVars>
          <dgm:bulletEnabled val="1"/>
        </dgm:presLayoutVars>
      </dgm:prSet>
      <dgm:spPr/>
    </dgm:pt>
    <dgm:pt modelId="{ABEC59CF-491F-4497-BB29-6346E297A153}" type="pres">
      <dgm:prSet presAssocID="{F42055FB-FDB4-461B-9097-8825FCB0FAA8}" presName="sibTrans" presStyleLbl="sibTrans2D1" presStyleIdx="2" presStyleCnt="4"/>
      <dgm:spPr/>
    </dgm:pt>
    <dgm:pt modelId="{B6976109-B98B-48B1-8F95-D1F9B6E6A1B0}" type="pres">
      <dgm:prSet presAssocID="{F42055FB-FDB4-461B-9097-8825FCB0FAA8}" presName="connectorText" presStyleLbl="sibTrans2D1" presStyleIdx="2" presStyleCnt="4"/>
      <dgm:spPr/>
    </dgm:pt>
    <dgm:pt modelId="{0DDAC2EC-BC37-417E-9874-681AAF9880DC}" type="pres">
      <dgm:prSet presAssocID="{8CF8BECA-6E0F-463B-B4BD-7137EA5F64A4}" presName="node" presStyleLbl="node1" presStyleIdx="3" presStyleCnt="5">
        <dgm:presLayoutVars>
          <dgm:bulletEnabled val="1"/>
        </dgm:presLayoutVars>
      </dgm:prSet>
      <dgm:spPr/>
    </dgm:pt>
    <dgm:pt modelId="{EAFDE68B-BC55-49E7-9D77-07072E415029}" type="pres">
      <dgm:prSet presAssocID="{3519FF0A-61D9-4AB1-9E15-F065ABC5DCE5}" presName="sibTrans" presStyleLbl="sibTrans2D1" presStyleIdx="3" presStyleCnt="4"/>
      <dgm:spPr/>
    </dgm:pt>
    <dgm:pt modelId="{CBD2AE66-EEAA-4A33-A30A-9A64182CBCD0}" type="pres">
      <dgm:prSet presAssocID="{3519FF0A-61D9-4AB1-9E15-F065ABC5DCE5}" presName="connectorText" presStyleLbl="sibTrans2D1" presStyleIdx="3" presStyleCnt="4"/>
      <dgm:spPr/>
    </dgm:pt>
    <dgm:pt modelId="{02599903-F02A-403B-B8FC-3B3669ED142E}" type="pres">
      <dgm:prSet presAssocID="{A0526FBC-872B-4BDB-9A44-7456065B06E8}" presName="node" presStyleLbl="node1" presStyleIdx="4" presStyleCnt="5">
        <dgm:presLayoutVars>
          <dgm:bulletEnabled val="1"/>
        </dgm:presLayoutVars>
      </dgm:prSet>
      <dgm:spPr/>
    </dgm:pt>
  </dgm:ptLst>
  <dgm:cxnLst>
    <dgm:cxn modelId="{1F350F0C-9A60-4F92-A6D8-6161EA17B606}" type="presOf" srcId="{F42055FB-FDB4-461B-9097-8825FCB0FAA8}" destId="{B6976109-B98B-48B1-8F95-D1F9B6E6A1B0}" srcOrd="1" destOrd="0" presId="urn:microsoft.com/office/officeart/2005/8/layout/process1"/>
    <dgm:cxn modelId="{58DED32B-2C73-4AD1-8A05-321C393097F5}" srcId="{5A535270-BB2A-40E6-BEDD-236AB32B1AA0}" destId="{9CD1D659-3E14-4874-840C-F06308B2FF9D}" srcOrd="0" destOrd="0" parTransId="{20A2E1F9-7AC6-4891-BBCD-3E2F5699F035}" sibTransId="{831D83A3-2DA3-4A53-B6BD-207BAB09320F}"/>
    <dgm:cxn modelId="{E186C72D-576A-464F-85CA-D90D2CA151EA}" type="presOf" srcId="{5A535270-BB2A-40E6-BEDD-236AB32B1AA0}" destId="{B7CAA1C2-9095-41DD-B9AB-36D94CCFD6B4}" srcOrd="0" destOrd="0" presId="urn:microsoft.com/office/officeart/2005/8/layout/process1"/>
    <dgm:cxn modelId="{F3A18442-4457-4776-8579-6751D41BE393}" srcId="{5A535270-BB2A-40E6-BEDD-236AB32B1AA0}" destId="{BD62B9F9-3714-4216-A5BE-1CD8844E1691}" srcOrd="1" destOrd="0" parTransId="{8433CF88-31E6-48C0-93C0-04157746260D}" sibTransId="{9770090E-AD32-4563-9BA2-A6843EC74D40}"/>
    <dgm:cxn modelId="{9B80F664-12B6-4E20-A255-057F7B823685}" type="presOf" srcId="{9770090E-AD32-4563-9BA2-A6843EC74D40}" destId="{C271D136-29DA-42AE-978F-69A80C9D8C0F}" srcOrd="1" destOrd="0" presId="urn:microsoft.com/office/officeart/2005/8/layout/process1"/>
    <dgm:cxn modelId="{1039DB56-F7C5-477C-8432-85B2096D9580}" srcId="{5A535270-BB2A-40E6-BEDD-236AB32B1AA0}" destId="{A0526FBC-872B-4BDB-9A44-7456065B06E8}" srcOrd="4" destOrd="0" parTransId="{C07AB8CB-690E-492F-9827-8F7F0F8B45CB}" sibTransId="{5F2D159B-5470-4A3C-ABD8-063219CA5C22}"/>
    <dgm:cxn modelId="{E7AA4A58-EE83-4C3F-AB5D-6FCE8C3BA98C}" type="presOf" srcId="{A0526FBC-872B-4BDB-9A44-7456065B06E8}" destId="{02599903-F02A-403B-B8FC-3B3669ED142E}" srcOrd="0" destOrd="0" presId="urn:microsoft.com/office/officeart/2005/8/layout/process1"/>
    <dgm:cxn modelId="{95529183-2A41-4157-95BA-7C6641A38668}" srcId="{5A535270-BB2A-40E6-BEDD-236AB32B1AA0}" destId="{8CF8BECA-6E0F-463B-B4BD-7137EA5F64A4}" srcOrd="3" destOrd="0" parTransId="{94CCE573-A05C-4D9C-B2DD-65A7DD863C3C}" sibTransId="{3519FF0A-61D9-4AB1-9E15-F065ABC5DCE5}"/>
    <dgm:cxn modelId="{51EB75B6-C00C-4B48-8901-5F9F7965BC2F}" type="presOf" srcId="{8CF8BECA-6E0F-463B-B4BD-7137EA5F64A4}" destId="{0DDAC2EC-BC37-417E-9874-681AAF9880DC}" srcOrd="0" destOrd="0" presId="urn:microsoft.com/office/officeart/2005/8/layout/process1"/>
    <dgm:cxn modelId="{9B59D9B9-2BF5-4BBD-84FF-757D5A65F8E7}" type="presOf" srcId="{3519FF0A-61D9-4AB1-9E15-F065ABC5DCE5}" destId="{EAFDE68B-BC55-49E7-9D77-07072E415029}" srcOrd="0" destOrd="0" presId="urn:microsoft.com/office/officeart/2005/8/layout/process1"/>
    <dgm:cxn modelId="{A9C9F3B9-CF5A-4E93-BFEE-75F5B55CA3E1}" type="presOf" srcId="{F42055FB-FDB4-461B-9097-8825FCB0FAA8}" destId="{ABEC59CF-491F-4497-BB29-6346E297A153}" srcOrd="0" destOrd="0" presId="urn:microsoft.com/office/officeart/2005/8/layout/process1"/>
    <dgm:cxn modelId="{6B5D83BA-39BB-4D3F-B56B-01D5740360F7}" type="presOf" srcId="{7D42A72F-D907-4189-B35E-DF73C2FA63CD}" destId="{741441E0-F8B3-4F5E-A8C2-B5398ED44113}" srcOrd="0" destOrd="0" presId="urn:microsoft.com/office/officeart/2005/8/layout/process1"/>
    <dgm:cxn modelId="{E4D15EBC-3960-46EC-B609-6CE283B5EE9B}" srcId="{5A535270-BB2A-40E6-BEDD-236AB32B1AA0}" destId="{7D42A72F-D907-4189-B35E-DF73C2FA63CD}" srcOrd="2" destOrd="0" parTransId="{264CDDD2-BBA4-4E5E-924D-38EBB9457124}" sibTransId="{F42055FB-FDB4-461B-9097-8825FCB0FAA8}"/>
    <dgm:cxn modelId="{D5CCFEBF-6436-4BEF-8A22-74E8602675A8}" type="presOf" srcId="{831D83A3-2DA3-4A53-B6BD-207BAB09320F}" destId="{23E5D47C-A8E3-4EA6-836D-FEF056FB7F47}" srcOrd="0" destOrd="0" presId="urn:microsoft.com/office/officeart/2005/8/layout/process1"/>
    <dgm:cxn modelId="{D725B1C3-22FB-425F-9FA2-CCFC84AC56BA}" type="presOf" srcId="{831D83A3-2DA3-4A53-B6BD-207BAB09320F}" destId="{29CD1D7B-C6BB-44A8-B56A-73DDD7CC9595}" srcOrd="1" destOrd="0" presId="urn:microsoft.com/office/officeart/2005/8/layout/process1"/>
    <dgm:cxn modelId="{9297FCC9-4E63-41A0-8E16-05B69B0BD931}" type="presOf" srcId="{9CD1D659-3E14-4874-840C-F06308B2FF9D}" destId="{5A50B4B2-0C24-4C87-8D74-BE65CBF88D2F}" srcOrd="0" destOrd="0" presId="urn:microsoft.com/office/officeart/2005/8/layout/process1"/>
    <dgm:cxn modelId="{4BBCADD8-2268-4DAB-AFB3-D8CE5137C6E5}" type="presOf" srcId="{3519FF0A-61D9-4AB1-9E15-F065ABC5DCE5}" destId="{CBD2AE66-EEAA-4A33-A30A-9A64182CBCD0}" srcOrd="1" destOrd="0" presId="urn:microsoft.com/office/officeart/2005/8/layout/process1"/>
    <dgm:cxn modelId="{AD6AB5DF-4EA2-4987-A097-6D8EF6A70AEC}" type="presOf" srcId="{9770090E-AD32-4563-9BA2-A6843EC74D40}" destId="{E664A587-11F4-403A-B6DE-A28463C530CA}" srcOrd="0" destOrd="0" presId="urn:microsoft.com/office/officeart/2005/8/layout/process1"/>
    <dgm:cxn modelId="{B6953FE2-2937-47B8-B0B2-E2D12158A884}" type="presOf" srcId="{BD62B9F9-3714-4216-A5BE-1CD8844E1691}" destId="{1BE3EC0C-4381-4DCF-B70D-02810D9EC3E4}" srcOrd="0" destOrd="0" presId="urn:microsoft.com/office/officeart/2005/8/layout/process1"/>
    <dgm:cxn modelId="{E4AB90F6-D984-4AE2-91ED-68EE356929B5}" type="presParOf" srcId="{B7CAA1C2-9095-41DD-B9AB-36D94CCFD6B4}" destId="{5A50B4B2-0C24-4C87-8D74-BE65CBF88D2F}" srcOrd="0" destOrd="0" presId="urn:microsoft.com/office/officeart/2005/8/layout/process1"/>
    <dgm:cxn modelId="{696A2E18-6853-435B-93D3-8E563C04C018}" type="presParOf" srcId="{B7CAA1C2-9095-41DD-B9AB-36D94CCFD6B4}" destId="{23E5D47C-A8E3-4EA6-836D-FEF056FB7F47}" srcOrd="1" destOrd="0" presId="urn:microsoft.com/office/officeart/2005/8/layout/process1"/>
    <dgm:cxn modelId="{0C1E7AB2-A066-47AE-BD8A-DDD7665F7C9B}" type="presParOf" srcId="{23E5D47C-A8E3-4EA6-836D-FEF056FB7F47}" destId="{29CD1D7B-C6BB-44A8-B56A-73DDD7CC9595}" srcOrd="0" destOrd="0" presId="urn:microsoft.com/office/officeart/2005/8/layout/process1"/>
    <dgm:cxn modelId="{9E335179-5470-405B-8FB4-D48A3573DC55}" type="presParOf" srcId="{B7CAA1C2-9095-41DD-B9AB-36D94CCFD6B4}" destId="{1BE3EC0C-4381-4DCF-B70D-02810D9EC3E4}" srcOrd="2" destOrd="0" presId="urn:microsoft.com/office/officeart/2005/8/layout/process1"/>
    <dgm:cxn modelId="{A907AFBC-83BE-4F42-88CF-A572B4B7E727}" type="presParOf" srcId="{B7CAA1C2-9095-41DD-B9AB-36D94CCFD6B4}" destId="{E664A587-11F4-403A-B6DE-A28463C530CA}" srcOrd="3" destOrd="0" presId="urn:microsoft.com/office/officeart/2005/8/layout/process1"/>
    <dgm:cxn modelId="{23FB9BF7-4BB5-45B6-8A41-76D19783B8E5}" type="presParOf" srcId="{E664A587-11F4-403A-B6DE-A28463C530CA}" destId="{C271D136-29DA-42AE-978F-69A80C9D8C0F}" srcOrd="0" destOrd="0" presId="urn:microsoft.com/office/officeart/2005/8/layout/process1"/>
    <dgm:cxn modelId="{FB91C31B-6C6A-4CCD-9DC8-720FB29A0E24}" type="presParOf" srcId="{B7CAA1C2-9095-41DD-B9AB-36D94CCFD6B4}" destId="{741441E0-F8B3-4F5E-A8C2-B5398ED44113}" srcOrd="4" destOrd="0" presId="urn:microsoft.com/office/officeart/2005/8/layout/process1"/>
    <dgm:cxn modelId="{2EB72637-9187-4515-BBFC-C1ACC31AAE8F}" type="presParOf" srcId="{B7CAA1C2-9095-41DD-B9AB-36D94CCFD6B4}" destId="{ABEC59CF-491F-4497-BB29-6346E297A153}" srcOrd="5" destOrd="0" presId="urn:microsoft.com/office/officeart/2005/8/layout/process1"/>
    <dgm:cxn modelId="{3D251139-9441-4F87-BCD4-9AB5930122CC}" type="presParOf" srcId="{ABEC59CF-491F-4497-BB29-6346E297A153}" destId="{B6976109-B98B-48B1-8F95-D1F9B6E6A1B0}" srcOrd="0" destOrd="0" presId="urn:microsoft.com/office/officeart/2005/8/layout/process1"/>
    <dgm:cxn modelId="{C4A95EAA-BE34-4D9E-AD4D-FFC4707A3974}" type="presParOf" srcId="{B7CAA1C2-9095-41DD-B9AB-36D94CCFD6B4}" destId="{0DDAC2EC-BC37-417E-9874-681AAF9880DC}" srcOrd="6" destOrd="0" presId="urn:microsoft.com/office/officeart/2005/8/layout/process1"/>
    <dgm:cxn modelId="{05E080BF-5CDB-443D-B632-34C17ED3BE94}" type="presParOf" srcId="{B7CAA1C2-9095-41DD-B9AB-36D94CCFD6B4}" destId="{EAFDE68B-BC55-49E7-9D77-07072E415029}" srcOrd="7" destOrd="0" presId="urn:microsoft.com/office/officeart/2005/8/layout/process1"/>
    <dgm:cxn modelId="{7AD4801D-D814-4C58-9457-01462C4BDD1B}" type="presParOf" srcId="{EAFDE68B-BC55-49E7-9D77-07072E415029}" destId="{CBD2AE66-EEAA-4A33-A30A-9A64182CBCD0}" srcOrd="0" destOrd="0" presId="urn:microsoft.com/office/officeart/2005/8/layout/process1"/>
    <dgm:cxn modelId="{0F0B02EF-A603-4B9C-8E32-9B8FCF2B431D}" type="presParOf" srcId="{B7CAA1C2-9095-41DD-B9AB-36D94CCFD6B4}" destId="{02599903-F02A-403B-B8FC-3B3669ED142E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50B4B2-0C24-4C87-8D74-BE65CBF88D2F}">
      <dsp:nvSpPr>
        <dsp:cNvPr id="0" name=""/>
        <dsp:cNvSpPr/>
      </dsp:nvSpPr>
      <dsp:spPr>
        <a:xfrm>
          <a:off x="4552" y="1954869"/>
          <a:ext cx="1411427" cy="84685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Data Source</a:t>
          </a:r>
        </a:p>
      </dsp:txBody>
      <dsp:txXfrm>
        <a:off x="29356" y="1979673"/>
        <a:ext cx="1361819" cy="797248"/>
      </dsp:txXfrm>
    </dsp:sp>
    <dsp:sp modelId="{23E5D47C-A8E3-4EA6-836D-FEF056FB7F47}">
      <dsp:nvSpPr>
        <dsp:cNvPr id="0" name=""/>
        <dsp:cNvSpPr/>
      </dsp:nvSpPr>
      <dsp:spPr>
        <a:xfrm rot="21595168">
          <a:off x="1557123" y="2201879"/>
          <a:ext cx="299222" cy="35003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500" kern="1200"/>
        </a:p>
      </dsp:txBody>
      <dsp:txXfrm>
        <a:off x="1557123" y="2271949"/>
        <a:ext cx="209455" cy="210020"/>
      </dsp:txXfrm>
    </dsp:sp>
    <dsp:sp modelId="{1BE3EC0C-4381-4DCF-B70D-02810D9EC3E4}">
      <dsp:nvSpPr>
        <dsp:cNvPr id="0" name=""/>
        <dsp:cNvSpPr/>
      </dsp:nvSpPr>
      <dsp:spPr>
        <a:xfrm>
          <a:off x="1980551" y="1952091"/>
          <a:ext cx="1411427" cy="84685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Azure Data Factory</a:t>
          </a:r>
        </a:p>
      </dsp:txBody>
      <dsp:txXfrm>
        <a:off x="2005355" y="1976895"/>
        <a:ext cx="1361819" cy="797248"/>
      </dsp:txXfrm>
    </dsp:sp>
    <dsp:sp modelId="{E664A587-11F4-403A-B6DE-A28463C530CA}">
      <dsp:nvSpPr>
        <dsp:cNvPr id="0" name=""/>
        <dsp:cNvSpPr/>
      </dsp:nvSpPr>
      <dsp:spPr>
        <a:xfrm>
          <a:off x="3533121" y="2200502"/>
          <a:ext cx="299222" cy="35003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500" kern="1200"/>
        </a:p>
      </dsp:txBody>
      <dsp:txXfrm>
        <a:off x="3533121" y="2270509"/>
        <a:ext cx="209455" cy="210020"/>
      </dsp:txXfrm>
    </dsp:sp>
    <dsp:sp modelId="{741441E0-F8B3-4F5E-A8C2-B5398ED44113}">
      <dsp:nvSpPr>
        <dsp:cNvPr id="0" name=""/>
        <dsp:cNvSpPr/>
      </dsp:nvSpPr>
      <dsp:spPr>
        <a:xfrm>
          <a:off x="3956549" y="1952091"/>
          <a:ext cx="1411427" cy="84685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Cosmos DB</a:t>
          </a:r>
        </a:p>
      </dsp:txBody>
      <dsp:txXfrm>
        <a:off x="3981353" y="1976895"/>
        <a:ext cx="1361819" cy="797248"/>
      </dsp:txXfrm>
    </dsp:sp>
    <dsp:sp modelId="{ABEC59CF-491F-4497-BB29-6346E297A153}">
      <dsp:nvSpPr>
        <dsp:cNvPr id="0" name=""/>
        <dsp:cNvSpPr/>
      </dsp:nvSpPr>
      <dsp:spPr>
        <a:xfrm>
          <a:off x="5509119" y="2200502"/>
          <a:ext cx="299222" cy="35003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500" kern="1200"/>
        </a:p>
      </dsp:txBody>
      <dsp:txXfrm>
        <a:off x="5509119" y="2270509"/>
        <a:ext cx="209455" cy="210020"/>
      </dsp:txXfrm>
    </dsp:sp>
    <dsp:sp modelId="{0DDAC2EC-BC37-417E-9874-681AAF9880DC}">
      <dsp:nvSpPr>
        <dsp:cNvPr id="0" name=""/>
        <dsp:cNvSpPr/>
      </dsp:nvSpPr>
      <dsp:spPr>
        <a:xfrm>
          <a:off x="5932548" y="1952091"/>
          <a:ext cx="1411427" cy="84685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Databricks</a:t>
          </a:r>
        </a:p>
      </dsp:txBody>
      <dsp:txXfrm>
        <a:off x="5957352" y="1976895"/>
        <a:ext cx="1361819" cy="797248"/>
      </dsp:txXfrm>
    </dsp:sp>
    <dsp:sp modelId="{EAFDE68B-BC55-49E7-9D77-07072E415029}">
      <dsp:nvSpPr>
        <dsp:cNvPr id="0" name=""/>
        <dsp:cNvSpPr/>
      </dsp:nvSpPr>
      <dsp:spPr>
        <a:xfrm>
          <a:off x="7485118" y="2200502"/>
          <a:ext cx="299222" cy="35003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500" kern="1200"/>
        </a:p>
      </dsp:txBody>
      <dsp:txXfrm>
        <a:off x="7485118" y="2270509"/>
        <a:ext cx="209455" cy="210020"/>
      </dsp:txXfrm>
    </dsp:sp>
    <dsp:sp modelId="{02599903-F02A-403B-B8FC-3B3669ED142E}">
      <dsp:nvSpPr>
        <dsp:cNvPr id="0" name=""/>
        <dsp:cNvSpPr/>
      </dsp:nvSpPr>
      <dsp:spPr>
        <a:xfrm>
          <a:off x="7908546" y="1952091"/>
          <a:ext cx="1411427" cy="84685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SQL DB</a:t>
          </a:r>
        </a:p>
      </dsp:txBody>
      <dsp:txXfrm>
        <a:off x="7933350" y="1976895"/>
        <a:ext cx="1361819" cy="7972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088EAF-6ECA-4616-85EF-35AA19C641F3}" type="datetimeFigureOut">
              <a:rPr lang="en-US"/>
              <a:t>4/8/2026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F912AB-2776-42F2-A957-313FC7EFEDB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320657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BD2D7A-D230-4F91-BD59-0A39C2703BA8}" type="datetimeFigureOut">
              <a:rPr lang="en-US"/>
              <a:t>4/8/2026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3199CD-3E1B-4AE6-990F-76F925F5EA9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76579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5214" y="1828800"/>
            <a:ext cx="8229600" cy="2895600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6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5213" y="4800600"/>
            <a:ext cx="8229600" cy="12192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 cap="all" spc="200" baseline="0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4999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4/8/2026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38254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9614" y="2514600"/>
            <a:ext cx="8692399" cy="2819400"/>
          </a:xfrm>
        </p:spPr>
        <p:txBody>
          <a:bodyPr anchor="b">
            <a:normAutofit/>
          </a:bodyPr>
          <a:lstStyle>
            <a:lvl1pPr algn="l">
              <a:lnSpc>
                <a:spcPct val="80000"/>
              </a:lnSpc>
              <a:defRPr sz="48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5213" y="5410200"/>
            <a:ext cx="8687333" cy="6096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000" cap="all" spc="2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4/8/2026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61813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04781" y="1905001"/>
            <a:ext cx="4419599" cy="41148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29183" y="1905001"/>
            <a:ext cx="4419600" cy="41148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4/8/2026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25340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1" y="1905000"/>
            <a:ext cx="4416552" cy="762000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2000" b="0" cap="all" spc="2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2411" y="2743201"/>
            <a:ext cx="4416552" cy="3276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9861" y="1905000"/>
            <a:ext cx="4416552" cy="762000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2000" b="0" cap="all" spc="2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9861" y="2743201"/>
            <a:ext cx="4416552" cy="3276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4/8/2026</a:t>
            </a:fld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08419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4/8/2026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26631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4/8/2026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07540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5604" y="1905000"/>
            <a:ext cx="3596607" cy="2667000"/>
          </a:xfrm>
        </p:spPr>
        <p:txBody>
          <a:bodyPr anchor="b">
            <a:noAutofit/>
          </a:bodyPr>
          <a:lstStyle>
            <a:lvl1pPr algn="l">
              <a:lnSpc>
                <a:spcPct val="90000"/>
              </a:lnSpc>
              <a:defRPr sz="36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5213" y="4648200"/>
            <a:ext cx="3581399" cy="13716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1414" y="685800"/>
            <a:ext cx="6400800" cy="5334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4/8/2026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44981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5604" y="1905000"/>
            <a:ext cx="3596607" cy="266700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b="0" i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5213" y="4648200"/>
            <a:ext cx="3581399" cy="13716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4951414" y="685800"/>
            <a:ext cx="6400799" cy="5334000"/>
          </a:xfrm>
          <a:solidFill>
            <a:schemeClr val="bg2"/>
          </a:solidFill>
          <a:ln w="76200">
            <a:solidFill>
              <a:schemeClr val="tx1"/>
            </a:solidFill>
            <a:miter lim="800000"/>
          </a:ln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pPr/>
              <a:t>4/8/2026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49172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4/8/2026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60095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42412" y="381001"/>
            <a:ext cx="1524001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2412" y="381001"/>
            <a:ext cx="7391399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4/8/2026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79035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2413" y="381000"/>
            <a:ext cx="9144001" cy="1371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1904999"/>
            <a:ext cx="9134391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2413" y="6400800"/>
            <a:ext cx="6553199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6422" y="6400800"/>
            <a:ext cx="1449389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F41C87-7AD9-4845-A077-840E4A0F3F06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28211" y="6400800"/>
            <a:ext cx="838201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013F82-EE5E-44EE-A61D-E31C6657F2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05999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3838" indent="-223838" algn="l" defTabSz="914400" rtl="0" eaLnBrk="1" latinLnBrk="0" hangingPunct="1">
        <a:lnSpc>
          <a:spcPct val="90000"/>
        </a:lnSpc>
        <a:spcBef>
          <a:spcPts val="1800"/>
        </a:spcBef>
        <a:buClr>
          <a:schemeClr val="accent1"/>
        </a:buClr>
        <a:buSzPct val="10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63550" indent="-231775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SzPct val="10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2625" indent="-219075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57250" indent="-174625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30288" indent="-173038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380744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554480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728216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39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549796" y="1052344"/>
            <a:ext cx="10297144" cy="2375520"/>
          </a:xfrm>
        </p:spPr>
        <p:txBody>
          <a:bodyPr>
            <a:normAutofit fontScale="90000"/>
          </a:bodyPr>
          <a:lstStyle/>
          <a:p>
            <a:r>
              <a:rPr lang="en-US" dirty="0"/>
              <a:t>Comprehensive Data Analysis Using Azure Services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539224" y="4149080"/>
            <a:ext cx="8229600" cy="356592"/>
          </a:xfrm>
        </p:spPr>
        <p:txBody>
          <a:bodyPr>
            <a:noAutofit/>
          </a:bodyPr>
          <a:lstStyle/>
          <a:p>
            <a:r>
              <a:rPr lang="en-US" sz="2400" dirty="0" err="1"/>
              <a:t>DataCo</a:t>
            </a:r>
            <a:r>
              <a:rPr lang="en-US" sz="2400" dirty="0"/>
              <a:t> Supply Chain</a:t>
            </a:r>
            <a:endParaRPr lang="it-IT" sz="2400" dirty="0"/>
          </a:p>
        </p:txBody>
      </p:sp>
    </p:spTree>
    <p:extLst>
      <p:ext uri="{BB962C8B-B14F-4D97-AF65-F5344CB8AC3E}">
        <p14:creationId xmlns:p14="http://schemas.microsoft.com/office/powerpoint/2010/main" val="2808920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522413" y="381000"/>
            <a:ext cx="3851919" cy="1371600"/>
          </a:xfrm>
        </p:spPr>
        <p:txBody>
          <a:bodyPr/>
          <a:lstStyle/>
          <a:p>
            <a:r>
              <a:rPr lang="en-IN" dirty="0"/>
              <a:t>Project Overview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522413" y="1904999"/>
            <a:ext cx="9134391" cy="2244081"/>
          </a:xfrm>
        </p:spPr>
        <p:txBody>
          <a:bodyPr/>
          <a:lstStyle/>
          <a:p>
            <a:r>
              <a:rPr lang="en-US" dirty="0"/>
              <a:t>This project builds an end-to-end data engineering pipeline </a:t>
            </a:r>
          </a:p>
          <a:p>
            <a:r>
              <a:rPr lang="en-US" dirty="0"/>
              <a:t>Focus on data ingestion, transformation, storage, and visualization </a:t>
            </a:r>
          </a:p>
          <a:p>
            <a:r>
              <a:rPr lang="en-US" dirty="0"/>
              <a:t>Uses modern cloud tools in Azure ecosystem </a:t>
            </a:r>
          </a:p>
          <a:p>
            <a:r>
              <a:rPr lang="en-US" dirty="0"/>
              <a:t>Goal: Generate business insights from supply chain data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9132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3587A7-8AE3-9FC9-68BA-F66A9C9DC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3B88F4F5-1945-E549-7E89-DF2D31913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Objectives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69AE613B-F14E-1A9E-B095-198FF3F80F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Extract data </a:t>
            </a:r>
          </a:p>
          <a:p>
            <a:r>
              <a:rPr lang="en-US" dirty="0"/>
              <a:t>Store raw data in NoSQL landing zone</a:t>
            </a:r>
          </a:p>
          <a:p>
            <a:r>
              <a:rPr lang="en-US" dirty="0"/>
              <a:t> Transform data using </a:t>
            </a:r>
            <a:r>
              <a:rPr lang="en-US" dirty="0" err="1"/>
              <a:t>PySpark</a:t>
            </a:r>
            <a:r>
              <a:rPr lang="en-US" dirty="0"/>
              <a:t> in Databricks </a:t>
            </a:r>
          </a:p>
          <a:p>
            <a:r>
              <a:rPr lang="en-US" dirty="0"/>
              <a:t>Derive </a:t>
            </a:r>
            <a:r>
              <a:rPr lang="en-IN" dirty="0"/>
              <a:t>Insightful analysis </a:t>
            </a:r>
          </a:p>
          <a:p>
            <a:r>
              <a:rPr lang="en-US" dirty="0"/>
              <a:t>Load data to Azure SQL Database</a:t>
            </a:r>
          </a:p>
        </p:txBody>
      </p:sp>
    </p:spTree>
    <p:extLst>
      <p:ext uri="{BB962C8B-B14F-4D97-AF65-F5344CB8AC3E}">
        <p14:creationId xmlns:p14="http://schemas.microsoft.com/office/powerpoint/2010/main" val="2299462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74D22-B82D-8D14-DA9A-12360585D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971459C2-20AE-5443-9DA5-ED81FD4A8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Tools &amp; Technologies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4272FBF-DCAA-9C0C-3821-28C61C2B1C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Azure Data Factory (ADF) </a:t>
            </a:r>
          </a:p>
          <a:p>
            <a:r>
              <a:rPr lang="en-US" dirty="0"/>
              <a:t>Azure Cosmos DB (NoSQL) </a:t>
            </a:r>
          </a:p>
          <a:p>
            <a:r>
              <a:rPr lang="en-US" dirty="0"/>
              <a:t>Azure Databricks (</a:t>
            </a:r>
            <a:r>
              <a:rPr lang="en-US" dirty="0" err="1"/>
              <a:t>PySpark</a:t>
            </a:r>
            <a:r>
              <a:rPr lang="en-US" dirty="0"/>
              <a:t>) </a:t>
            </a:r>
          </a:p>
          <a:p>
            <a:r>
              <a:rPr lang="en-US" dirty="0"/>
              <a:t>Azure SQL Database</a:t>
            </a:r>
          </a:p>
        </p:txBody>
      </p:sp>
    </p:spTree>
    <p:extLst>
      <p:ext uri="{BB962C8B-B14F-4D97-AF65-F5344CB8AC3E}">
        <p14:creationId xmlns:p14="http://schemas.microsoft.com/office/powerpoint/2010/main" val="1104959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3DE1C5-3DBD-805A-24BB-CF1758D78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1AC2AE15-B6EF-C377-8D20-D1C344A25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Architecture Diagram </a:t>
            </a:r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27D763B-89E6-348C-F05E-4AC7D1A0919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39159366"/>
              </p:ext>
            </p:extLst>
          </p:nvPr>
        </p:nvGraphicFramePr>
        <p:xfrm>
          <a:off x="1522413" y="1268760"/>
          <a:ext cx="9324527" cy="47510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02025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8BBD03-8178-6DC0-7B2F-63C4315D6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CAC07248-E8AA-90CF-1FC6-DFC679E93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381000"/>
            <a:ext cx="9144001" cy="1371600"/>
          </a:xfrm>
        </p:spPr>
        <p:txBody>
          <a:bodyPr anchor="b">
            <a:normAutofit/>
          </a:bodyPr>
          <a:lstStyle/>
          <a:p>
            <a:r>
              <a:rPr lang="en-IN" dirty="0"/>
              <a:t>Customer Insights</a:t>
            </a:r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4773F86-099E-3639-67FF-4F461B014CC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6814" y="2204864"/>
            <a:ext cx="4419600" cy="1993804"/>
          </a:xfrm>
          <a:prstGeom prst="rect">
            <a:avLst/>
          </a:prstGeom>
        </p:spPr>
      </p:pic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A82D9BEC-1DE8-F933-8A6E-CCC04D609F2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4950" y="2204864"/>
            <a:ext cx="4419600" cy="199380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138904A-769E-887E-4177-4C12C390E1C9}"/>
              </a:ext>
            </a:extLst>
          </p:cNvPr>
          <p:cNvSpPr txBox="1"/>
          <p:nvPr/>
        </p:nvSpPr>
        <p:spPr>
          <a:xfrm>
            <a:off x="6512398" y="4650932"/>
            <a:ext cx="38884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number of customers across different cities.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402DC7D-9451-F9C7-700F-A481383B039E}"/>
              </a:ext>
            </a:extLst>
          </p:cNvPr>
          <p:cNvSpPr txBox="1"/>
          <p:nvPr/>
        </p:nvSpPr>
        <p:spPr>
          <a:xfrm>
            <a:off x="1770534" y="4650931"/>
            <a:ext cx="3888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Customers in different segment.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25073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5957E2-0FB8-0C27-FE04-7D0F9ADA3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287B902C-2D13-9206-571B-90B44B136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381000"/>
            <a:ext cx="9144001" cy="1371600"/>
          </a:xfrm>
        </p:spPr>
        <p:txBody>
          <a:bodyPr anchor="b">
            <a:normAutofit/>
          </a:bodyPr>
          <a:lstStyle/>
          <a:p>
            <a:r>
              <a:rPr lang="en-IN" dirty="0"/>
              <a:t>Product Insights</a:t>
            </a:r>
            <a:endParaRPr lang="en-US" dirty="0"/>
          </a:p>
        </p:txBody>
      </p:sp>
      <p:pic>
        <p:nvPicPr>
          <p:cNvPr id="20" name="Content Placeholder 19">
            <a:extLst>
              <a:ext uri="{FF2B5EF4-FFF2-40B4-BE49-F238E27FC236}">
                <a16:creationId xmlns:a16="http://schemas.microsoft.com/office/drawing/2014/main" id="{D4D23683-6345-8AC6-3A3C-C31060344E8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4061" y="2204864"/>
            <a:ext cx="4419600" cy="1993804"/>
          </a:xfrm>
          <a:prstGeom prst="rect">
            <a:avLst/>
          </a:prstGeom>
        </p:spPr>
      </p:pic>
      <p:pic>
        <p:nvPicPr>
          <p:cNvPr id="24" name="Content Placeholder 23">
            <a:extLst>
              <a:ext uri="{FF2B5EF4-FFF2-40B4-BE49-F238E27FC236}">
                <a16:creationId xmlns:a16="http://schemas.microsoft.com/office/drawing/2014/main" id="{F57652F7-C396-3E24-13BA-5FEBF4E2E65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5165" y="2204864"/>
            <a:ext cx="4419600" cy="1993804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DEF6F180-6981-E3E7-2795-0AECABD9EF96}"/>
              </a:ext>
            </a:extLst>
          </p:cNvPr>
          <p:cNvSpPr txBox="1"/>
          <p:nvPr/>
        </p:nvSpPr>
        <p:spPr>
          <a:xfrm>
            <a:off x="6512398" y="4650932"/>
            <a:ext cx="3888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Total sales by each product.</a:t>
            </a:r>
            <a:endParaRPr lang="en-IN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9E0B5E9-014E-39E3-4B10-477B2BF22B31}"/>
              </a:ext>
            </a:extLst>
          </p:cNvPr>
          <p:cNvSpPr txBox="1"/>
          <p:nvPr/>
        </p:nvSpPr>
        <p:spPr>
          <a:xfrm>
            <a:off x="1770534" y="4650931"/>
            <a:ext cx="3888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Units sold by each product</a:t>
            </a:r>
          </a:p>
        </p:txBody>
      </p:sp>
    </p:spTree>
    <p:extLst>
      <p:ext uri="{BB962C8B-B14F-4D97-AF65-F5344CB8AC3E}">
        <p14:creationId xmlns:p14="http://schemas.microsoft.com/office/powerpoint/2010/main" val="4276930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F8C737-B77D-2007-E80B-8C8706648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D0C1DC20-E28A-1C2F-BB64-2D3749446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381000"/>
            <a:ext cx="9144001" cy="1371600"/>
          </a:xfrm>
        </p:spPr>
        <p:txBody>
          <a:bodyPr anchor="b">
            <a:normAutofit/>
          </a:bodyPr>
          <a:lstStyle/>
          <a:p>
            <a:r>
              <a:rPr lang="en-IN" dirty="0"/>
              <a:t>Order Insights</a:t>
            </a:r>
            <a:endParaRPr lang="en-US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6CFEC796-ED16-8FDE-CADE-DD7481712E8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4156" y="2225793"/>
            <a:ext cx="4419600" cy="1993804"/>
          </a:xfrm>
          <a:prstGeom prst="rect">
            <a:avLst/>
          </a:prstGeom>
        </p:spPr>
      </p:pic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BB6C9D30-0D76-CFAC-2B5F-6715DD6EED9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2967" y="2225793"/>
            <a:ext cx="4419600" cy="199380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657B971-3703-15C8-A9ED-D53BAC766F36}"/>
              </a:ext>
            </a:extLst>
          </p:cNvPr>
          <p:cNvSpPr txBox="1"/>
          <p:nvPr/>
        </p:nvSpPr>
        <p:spPr>
          <a:xfrm>
            <a:off x="6512398" y="4650932"/>
            <a:ext cx="3888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Shipment Delay Days vs Orders.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26A481-951C-FE66-5CAB-0347B8ABD05A}"/>
              </a:ext>
            </a:extLst>
          </p:cNvPr>
          <p:cNvSpPr txBox="1"/>
          <p:nvPr/>
        </p:nvSpPr>
        <p:spPr>
          <a:xfrm>
            <a:off x="1770534" y="4650931"/>
            <a:ext cx="3888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On-Time Delivery by Shipping Mode.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01306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F97B9D-DBBF-C2E0-9AF7-CD28388AD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E180D06B-B9A0-E3D7-1B11-F8D9FF0AD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381000"/>
            <a:ext cx="9144001" cy="1371600"/>
          </a:xfrm>
        </p:spPr>
        <p:txBody>
          <a:bodyPr anchor="b">
            <a:normAutofit/>
          </a:bodyPr>
          <a:lstStyle/>
          <a:p>
            <a:r>
              <a:rPr lang="en-IN" dirty="0"/>
              <a:t>Logs Insights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3E95B8-2DB9-0149-D6CF-8F88ADC57793}"/>
              </a:ext>
            </a:extLst>
          </p:cNvPr>
          <p:cNvSpPr txBox="1"/>
          <p:nvPr/>
        </p:nvSpPr>
        <p:spPr>
          <a:xfrm>
            <a:off x="6512398" y="4650932"/>
            <a:ext cx="3888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Top Viewed Products.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A2A099-3B51-A51D-0052-45839696FCCF}"/>
              </a:ext>
            </a:extLst>
          </p:cNvPr>
          <p:cNvSpPr txBox="1"/>
          <p:nvPr/>
        </p:nvSpPr>
        <p:spPr>
          <a:xfrm>
            <a:off x="1770534" y="4650931"/>
            <a:ext cx="3888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Conversion Rate of Product Categories</a:t>
            </a:r>
          </a:p>
        </p:txBody>
      </p:sp>
      <p:pic>
        <p:nvPicPr>
          <p:cNvPr id="22" name="Content Placeholder 21">
            <a:extLst>
              <a:ext uri="{FF2B5EF4-FFF2-40B4-BE49-F238E27FC236}">
                <a16:creationId xmlns:a16="http://schemas.microsoft.com/office/drawing/2014/main" id="{255EA189-FE84-CF19-6211-88CB6179D0B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4276" y="2225793"/>
            <a:ext cx="4419600" cy="1993804"/>
          </a:xfrm>
          <a:prstGeom prst="rect">
            <a:avLst/>
          </a:prstGeom>
        </p:spPr>
      </p:pic>
      <p:pic>
        <p:nvPicPr>
          <p:cNvPr id="26" name="Content Placeholder 25">
            <a:extLst>
              <a:ext uri="{FF2B5EF4-FFF2-40B4-BE49-F238E27FC236}">
                <a16:creationId xmlns:a16="http://schemas.microsoft.com/office/drawing/2014/main" id="{59704711-04AD-967A-C636-76C52F26F01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2413" y="2225793"/>
            <a:ext cx="4419600" cy="1993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107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0B4614-1BA7-DA2D-3642-91AA89BA8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673C380A-5C06-C20F-5137-00392A70D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AC491A50-1DE7-A85D-1E27-07C4B6A818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was successfully ingested from </a:t>
            </a:r>
            <a:r>
              <a:rPr lang="en-US" b="1" dirty="0"/>
              <a:t>Azure Cosmos DB</a:t>
            </a:r>
            <a:r>
              <a:rPr lang="en-US" dirty="0"/>
              <a:t>, processed and transformed using </a:t>
            </a:r>
            <a:r>
              <a:rPr lang="en-US" dirty="0" err="1"/>
              <a:t>PySpark</a:t>
            </a:r>
            <a:r>
              <a:rPr lang="en-US" dirty="0"/>
              <a:t>, and then stored in </a:t>
            </a:r>
            <a:r>
              <a:rPr lang="en-US" b="1" dirty="0"/>
              <a:t>Azure SQL Database</a:t>
            </a:r>
            <a:r>
              <a:rPr lang="en-US" dirty="0"/>
              <a:t>.</a:t>
            </a:r>
          </a:p>
          <a:p>
            <a:r>
              <a:rPr lang="en-US" dirty="0"/>
              <a:t> The analysis covered multiple dimensions including customer segmentation, geographical distribution, product performance, delivery efficiency, and user behavior from logs.</a:t>
            </a:r>
          </a:p>
        </p:txBody>
      </p:sp>
    </p:spTree>
    <p:extLst>
      <p:ext uri="{BB962C8B-B14F-4D97-AF65-F5344CB8AC3E}">
        <p14:creationId xmlns:p14="http://schemas.microsoft.com/office/powerpoint/2010/main" val="24278768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</p:tagLst>
</file>

<file path=ppt/theme/theme1.xml><?xml version="1.0" encoding="utf-8"?>
<a:theme xmlns:a="http://schemas.openxmlformats.org/drawingml/2006/main" name="Digital Blue Tunnel 16x9">
  <a:themeElements>
    <a:clrScheme name="Digital Blue Tunnel">
      <a:dk1>
        <a:srgbClr val="000000"/>
      </a:dk1>
      <a:lt1>
        <a:sysClr val="window" lastClr="FFFFFF"/>
      </a:lt1>
      <a:dk2>
        <a:srgbClr val="001027"/>
      </a:dk2>
      <a:lt2>
        <a:srgbClr val="C1EBF7"/>
      </a:lt2>
      <a:accent1>
        <a:srgbClr val="56C5FF"/>
      </a:accent1>
      <a:accent2>
        <a:srgbClr val="4BB836"/>
      </a:accent2>
      <a:accent3>
        <a:srgbClr val="F8B004"/>
      </a:accent3>
      <a:accent4>
        <a:srgbClr val="972ACD"/>
      </a:accent4>
      <a:accent5>
        <a:srgbClr val="F86E24"/>
      </a:accent5>
      <a:accent6>
        <a:srgbClr val="DB30C7"/>
      </a:accent6>
      <a:hlink>
        <a:srgbClr val="F8B004"/>
      </a:hlink>
      <a:folHlink>
        <a:srgbClr val="969696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2895261.potx" id="{4CBF9558-C12D-4F51-9AA3-9D0796951DBC}" vid="{FFC159E6-A134-46E7-B1A0-C306E39FC295}"/>
    </a:ext>
  </a:extLst>
</a:theme>
</file>

<file path=ppt/theme/theme2.xml><?xml version="1.0" encoding="utf-8"?>
<a:theme xmlns:a="http://schemas.openxmlformats.org/drawingml/2006/main" name="Office Theme">
  <a:themeElements>
    <a:clrScheme name="Digital Blue Tunnel">
      <a:dk1>
        <a:srgbClr val="000000"/>
      </a:dk1>
      <a:lt1>
        <a:sysClr val="window" lastClr="FFFFFF"/>
      </a:lt1>
      <a:dk2>
        <a:srgbClr val="001027"/>
      </a:dk2>
      <a:lt2>
        <a:srgbClr val="C1EBF7"/>
      </a:lt2>
      <a:accent1>
        <a:srgbClr val="56C5FF"/>
      </a:accent1>
      <a:accent2>
        <a:srgbClr val="4BB836"/>
      </a:accent2>
      <a:accent3>
        <a:srgbClr val="F8B004"/>
      </a:accent3>
      <a:accent4>
        <a:srgbClr val="972ACD"/>
      </a:accent4>
      <a:accent5>
        <a:srgbClr val="F86E24"/>
      </a:accent5>
      <a:accent6>
        <a:srgbClr val="DB30C7"/>
      </a:accent6>
      <a:hlink>
        <a:srgbClr val="F8B004"/>
      </a:hlink>
      <a:folHlink>
        <a:srgbClr val="969696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Digital Blue Tunnel">
      <a:dk1>
        <a:srgbClr val="000000"/>
      </a:dk1>
      <a:lt1>
        <a:sysClr val="window" lastClr="FFFFFF"/>
      </a:lt1>
      <a:dk2>
        <a:srgbClr val="001027"/>
      </a:dk2>
      <a:lt2>
        <a:srgbClr val="C1EBF7"/>
      </a:lt2>
      <a:accent1>
        <a:srgbClr val="56C5FF"/>
      </a:accent1>
      <a:accent2>
        <a:srgbClr val="4BB836"/>
      </a:accent2>
      <a:accent3>
        <a:srgbClr val="F8B004"/>
      </a:accent3>
      <a:accent4>
        <a:srgbClr val="972ACD"/>
      </a:accent4>
      <a:accent5>
        <a:srgbClr val="F86E24"/>
      </a:accent5>
      <a:accent6>
        <a:srgbClr val="DB30C7"/>
      </a:accent6>
      <a:hlink>
        <a:srgbClr val="F8B004"/>
      </a:hlink>
      <a:folHlink>
        <a:srgbClr val="969696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Business digital blue tunnel presentation (widescreen)</Template>
  <TotalTime>373</TotalTime>
  <Words>209</Words>
  <Application>Microsoft Office PowerPoint</Application>
  <PresentationFormat>Custom</PresentationFormat>
  <Paragraphs>39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Corbel</vt:lpstr>
      <vt:lpstr>Digital Blue Tunnel 16x9</vt:lpstr>
      <vt:lpstr>Comprehensive Data Analysis Using Azure Services</vt:lpstr>
      <vt:lpstr>Project Overview</vt:lpstr>
      <vt:lpstr>Objectives</vt:lpstr>
      <vt:lpstr>Tools &amp; Technologies</vt:lpstr>
      <vt:lpstr>Architecture Diagram </vt:lpstr>
      <vt:lpstr>Customer Insights</vt:lpstr>
      <vt:lpstr>Product Insights</vt:lpstr>
      <vt:lpstr>Order Insights</vt:lpstr>
      <vt:lpstr>Logs Insights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Jeevanantham Prabhu(UST,IN)</dc:creator>
  <cp:lastModifiedBy>Jeevanantham Prabhu(UST,IN)</cp:lastModifiedBy>
  <cp:revision>3</cp:revision>
  <dcterms:created xsi:type="dcterms:W3CDTF">2026-04-07T18:45:45Z</dcterms:created>
  <dcterms:modified xsi:type="dcterms:W3CDTF">2026-04-08T10:18:29Z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  <property fmtid="{D5CDD505-2E9C-101B-9397-08002B2CF9AE}" pid="8" name="MSIP_Label_15ffddfa-74ad-4c1f-9757-a38a11902f1c_Enabled">
    <vt:lpwstr>true</vt:lpwstr>
  </property>
  <property fmtid="{D5CDD505-2E9C-101B-9397-08002B2CF9AE}" pid="9" name="MSIP_Label_15ffddfa-74ad-4c1f-9757-a38a11902f1c_SetDate">
    <vt:lpwstr>2026-04-07T20:39:04Z</vt:lpwstr>
  </property>
  <property fmtid="{D5CDD505-2E9C-101B-9397-08002B2CF9AE}" pid="10" name="MSIP_Label_15ffddfa-74ad-4c1f-9757-a38a11902f1c_Method">
    <vt:lpwstr>Standard</vt:lpwstr>
  </property>
  <property fmtid="{D5CDD505-2E9C-101B-9397-08002B2CF9AE}" pid="11" name="MSIP_Label_15ffddfa-74ad-4c1f-9757-a38a11902f1c_Name">
    <vt:lpwstr>UST Internal</vt:lpwstr>
  </property>
  <property fmtid="{D5CDD505-2E9C-101B-9397-08002B2CF9AE}" pid="12" name="MSIP_Label_15ffddfa-74ad-4c1f-9757-a38a11902f1c_SiteId">
    <vt:lpwstr>a4431f4b-c207-4733-9530-34c08a9b2b8d</vt:lpwstr>
  </property>
  <property fmtid="{D5CDD505-2E9C-101B-9397-08002B2CF9AE}" pid="13" name="MSIP_Label_15ffddfa-74ad-4c1f-9757-a38a11902f1c_ActionId">
    <vt:lpwstr>bfb46926-cc44-4ce4-b181-cbef4762cbe3</vt:lpwstr>
  </property>
  <property fmtid="{D5CDD505-2E9C-101B-9397-08002B2CF9AE}" pid="14" name="MSIP_Label_15ffddfa-74ad-4c1f-9757-a38a11902f1c_ContentBits">
    <vt:lpwstr>0</vt:lpwstr>
  </property>
  <property fmtid="{D5CDD505-2E9C-101B-9397-08002B2CF9AE}" pid="15" name="MSIP_Label_15ffddfa-74ad-4c1f-9757-a38a11902f1c_Tag">
    <vt:lpwstr>10, 3, 0, 1</vt:lpwstr>
  </property>
</Properties>
</file>